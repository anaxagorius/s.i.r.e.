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sldIdLst>
    <p:sldId id="256" r:id="rId5"/>
  </p:sldIdLst>
  <p:sldSz cx="43205400" cy="32404050"/>
  <p:notesSz cx="7315200" cy="9601200"/>
  <p:defaultTextStyle>
    <a:defPPr>
      <a:defRPr lang="en-US"/>
    </a:defPPr>
    <a:lvl1pPr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1pPr>
    <a:lvl2pPr marL="2159000" indent="-1701800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2pPr>
    <a:lvl3pPr marL="4319588" indent="-3405188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3pPr>
    <a:lvl4pPr marL="6480175" indent="-5108575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4pPr>
    <a:lvl5pPr marL="8640763" indent="-6811963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13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97E"/>
    <a:srgbClr val="8EB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620"/>
    <p:restoredTop sz="96327"/>
  </p:normalViewPr>
  <p:slideViewPr>
    <p:cSldViewPr snapToObjects="1">
      <p:cViewPr>
        <p:scale>
          <a:sx n="20" d="100"/>
          <a:sy n="20" d="100"/>
        </p:scale>
        <p:origin x="720" y="-1448"/>
      </p:cViewPr>
      <p:guideLst>
        <p:guide orient="horz" pos="10206"/>
        <p:guide pos="13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8EB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9710" y="29349205"/>
            <a:ext cx="43251120" cy="3054845"/>
          </a:xfrm>
          <a:prstGeom prst="rect">
            <a:avLst/>
          </a:prstGeom>
          <a:solidFill>
            <a:srgbClr val="104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65"/>
          <p:cNvGrpSpPr>
            <a:grpSpLocks/>
          </p:cNvGrpSpPr>
          <p:nvPr userDrawn="1"/>
        </p:nvGrpSpPr>
        <p:grpSpPr bwMode="auto">
          <a:xfrm>
            <a:off x="-89710" y="29523505"/>
            <a:ext cx="43251120" cy="365760"/>
            <a:chOff x="0" y="3766"/>
            <a:chExt cx="5760" cy="64"/>
          </a:xfrm>
        </p:grpSpPr>
        <p:sp>
          <p:nvSpPr>
            <p:cNvPr id="10" name="Rectangle 50"/>
            <p:cNvSpPr>
              <a:spLocks noChangeArrowheads="1"/>
            </p:cNvSpPr>
            <p:nvPr/>
          </p:nvSpPr>
          <p:spPr bwMode="auto">
            <a:xfrm>
              <a:off x="1161" y="3766"/>
              <a:ext cx="1104" cy="64"/>
            </a:xfrm>
            <a:prstGeom prst="rect">
              <a:avLst/>
            </a:prstGeom>
            <a:solidFill>
              <a:srgbClr val="7BB652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" name="Rectangle 51"/>
            <p:cNvSpPr>
              <a:spLocks noChangeArrowheads="1"/>
            </p:cNvSpPr>
            <p:nvPr/>
          </p:nvSpPr>
          <p:spPr bwMode="auto">
            <a:xfrm>
              <a:off x="2301" y="3766"/>
              <a:ext cx="1120" cy="64"/>
            </a:xfrm>
            <a:prstGeom prst="rect">
              <a:avLst/>
            </a:prstGeom>
            <a:solidFill>
              <a:srgbClr val="EBB631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Rectangle 52"/>
            <p:cNvSpPr>
              <a:spLocks noChangeArrowheads="1"/>
            </p:cNvSpPr>
            <p:nvPr/>
          </p:nvSpPr>
          <p:spPr bwMode="auto">
            <a:xfrm>
              <a:off x="3457" y="3766"/>
              <a:ext cx="1142" cy="64"/>
            </a:xfrm>
            <a:prstGeom prst="rect">
              <a:avLst/>
            </a:prstGeom>
            <a:solidFill>
              <a:srgbClr val="DE8C2F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Rectangle 53"/>
            <p:cNvSpPr>
              <a:spLocks noChangeArrowheads="1"/>
            </p:cNvSpPr>
            <p:nvPr/>
          </p:nvSpPr>
          <p:spPr bwMode="auto">
            <a:xfrm>
              <a:off x="4635" y="3766"/>
              <a:ext cx="1125" cy="64"/>
            </a:xfrm>
            <a:prstGeom prst="rect">
              <a:avLst/>
            </a:prstGeom>
            <a:solidFill>
              <a:srgbClr val="CC3429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Rectangle 54"/>
            <p:cNvSpPr>
              <a:spLocks noChangeArrowheads="1"/>
            </p:cNvSpPr>
            <p:nvPr/>
          </p:nvSpPr>
          <p:spPr bwMode="auto">
            <a:xfrm>
              <a:off x="0" y="3766"/>
              <a:ext cx="1125" cy="64"/>
            </a:xfrm>
            <a:prstGeom prst="rect">
              <a:avLst/>
            </a:prstGeom>
            <a:solidFill>
              <a:srgbClr val="008BA5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16" name="Picture 15" descr="nscc_logo_BIG_whi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54281" y="30288590"/>
            <a:ext cx="6818752" cy="1737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B1D46D-29AA-43BF-A3D5-BEB3495DF774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1B7FC-87E9-44EA-AAF8-94D3C7E90BE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929" y="20822605"/>
            <a:ext cx="36724590" cy="6435804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929" y="13734221"/>
            <a:ext cx="36724590" cy="7088384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859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71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4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840999-55D0-4597-863C-92554F7AA06A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43BC4-B5B7-469D-AB2D-AE2045F43CC1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8778" y="35726968"/>
            <a:ext cx="91503934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32810" y="35726968"/>
            <a:ext cx="91503939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51E4F7-2696-42D5-9872-B2231B2E58C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A15FC2-F196-4E97-83A8-6EF0E771B7AE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253409"/>
            <a:ext cx="19089888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0270" y="10276284"/>
            <a:ext cx="19089888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7750" y="7253409"/>
            <a:ext cx="19097387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7750" y="10276284"/>
            <a:ext cx="19097387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01187C-3E03-4BF0-9ADC-1EF0984621EF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99137-84AE-4618-A682-E30A90374C56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A0197-925E-4DB7-B4C6-A166A7B9428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12512-9E0C-49C9-AEC8-04EE8B75249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CCA12A-53EF-4B92-B672-7452B988BC94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5B12C-5E29-42F7-BB46-F2344359CBE2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7" y="1290161"/>
            <a:ext cx="14214279" cy="5490686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2111" y="1290168"/>
            <a:ext cx="24153019" cy="27655959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0277" y="6780854"/>
            <a:ext cx="14214279" cy="221652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F2CCB-5EC5-4AB2-BF87-73BD76F1900D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5BD30-87B4-4379-ABD8-0397080F4E5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561" y="22682835"/>
            <a:ext cx="25923240" cy="2677837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8561" y="2895362"/>
            <a:ext cx="25923240" cy="19442430"/>
          </a:xfrm>
        </p:spPr>
        <p:txBody>
          <a:bodyPr/>
          <a:lstStyle>
            <a:lvl1pPr marL="0" indent="0">
              <a:buNone/>
              <a:defRPr sz="15100"/>
            </a:lvl1pPr>
            <a:lvl2pPr marL="2159859" indent="0">
              <a:buNone/>
              <a:defRPr sz="13200"/>
            </a:lvl2pPr>
            <a:lvl3pPr marL="4319718" indent="0">
              <a:buNone/>
              <a:defRPr sz="11300"/>
            </a:lvl3pPr>
            <a:lvl4pPr marL="6479577" indent="0">
              <a:buNone/>
              <a:defRPr sz="9500"/>
            </a:lvl4pPr>
            <a:lvl5pPr marL="8639440" indent="0">
              <a:buNone/>
              <a:defRPr sz="9500"/>
            </a:lvl5pPr>
            <a:lvl6pPr marL="10799299" indent="0">
              <a:buNone/>
              <a:defRPr sz="9500"/>
            </a:lvl6pPr>
            <a:lvl7pPr marL="12959158" indent="0">
              <a:buNone/>
              <a:defRPr sz="9500"/>
            </a:lvl7pPr>
            <a:lvl8pPr marL="15119017" indent="0">
              <a:buNone/>
              <a:defRPr sz="9500"/>
            </a:lvl8pPr>
            <a:lvl9pPr marL="17278876" indent="0">
              <a:buNone/>
              <a:defRPr sz="9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8561" y="25360672"/>
            <a:ext cx="25923240" cy="38029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3F561-ABC0-464F-92EC-80096123B5D8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FFD9FD-EB94-47EC-BBC9-3D9FC9CFEE37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8BF4-9B66-4F6C-AE9A-554FF46DBA45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A19ED-B113-4F29-BF9A-B76AB1F47BC8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8008506" y="6128275"/>
            <a:ext cx="45928243" cy="130643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08779" y="6128275"/>
            <a:ext cx="137079630" cy="130643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5D0903-15FE-4E44-A7B2-62D390562A91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F5B9B-2278-4022-A658-6EAC319FB54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  <a:prstGeom prst="rect">
            <a:avLst/>
          </a:prstGeom>
        </p:spPr>
        <p:txBody>
          <a:bodyPr vert="horz" lIns="431974" tIns="215984" rIns="431974" bIns="21598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560952"/>
            <a:ext cx="38884860" cy="21385175"/>
          </a:xfrm>
          <a:prstGeom prst="rect">
            <a:avLst/>
          </a:prstGeom>
        </p:spPr>
        <p:txBody>
          <a:bodyPr vert="horz" lIns="431974" tIns="215984" rIns="431974" bIns="21598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02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2AAB783-6C48-4038-A4CC-2E8D3CBC4F5B}" type="datetimeFigureOut">
              <a:rPr lang="en-US" smtClean="0"/>
              <a:pPr>
                <a:defRPr/>
              </a:pPr>
              <a:t>2/20/2026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761845" y="30033761"/>
            <a:ext cx="1368171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638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07C68A-3A6E-4F35-8A7D-63B78ACB8D6A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defTabSz="4319718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95" indent="-1619895" algn="l" defTabSz="4319718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773" indent="-1349914" algn="l" defTabSz="4319718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650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509" indent="-1079932" algn="l" defTabSz="4319718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9368" indent="-1079932" algn="l" defTabSz="4319718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9226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085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944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808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5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1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7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44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29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15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901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876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11356848" y="7013448"/>
            <a:ext cx="20482560" cy="3081528"/>
          </a:xfrm>
          <a:prstGeom prst="rect">
            <a:avLst/>
          </a:prstGeom>
          <a:solidFill>
            <a:srgbClr val="E8F8EF"/>
          </a:solidFill>
          <a:ln w="19050">
            <a:solidFill>
              <a:srgbClr val="38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1087100" y="4275007"/>
            <a:ext cx="21031200" cy="2423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70925" y="4269455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789819" y="4090154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4300" y="464350"/>
            <a:ext cx="42976800" cy="2641220"/>
          </a:xfrm>
          <a:prstGeom prst="roundRect">
            <a:avLst/>
          </a:prstGeom>
          <a:solidFill>
            <a:srgbClr val="E639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b="1" dirty="0">
              <a:latin typeface="Book Antiqua" panose="0204060205030503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8640" y="475488"/>
            <a:ext cx="3931920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7200">
                <a:solidFill>
                  <a:srgbClr val="FFFFFF"/>
                </a:solidFill>
                <a:latin typeface="Calibri"/>
              </a:rPr>
              <a:t>S.I.R.E. — Simulated Incident Response Environment</a:t>
            </a:r>
          </a:p>
          <a:p>
            <a:pPr algn="ctr"/>
            <a:r>
              <a:rPr b="1" sz="3000">
                <a:solidFill>
                  <a:srgbClr val="FFDDDD"/>
                </a:solidFill>
                <a:latin typeface="Calibri"/>
              </a:rPr>
              <a:t>Team Nibble  ·  NSCC  ·  PROG 3300 — Integrated Projects for Programming  ·  Instructor: Alfred Parkes</a:t>
            </a:r>
          </a:p>
          <a:p>
            <a:pPr algn="ctr"/>
            <a:r>
              <a:rPr i="1" sz="2400">
                <a:solidFill>
                  <a:srgbClr val="FFCCCC"/>
                </a:solidFill>
                <a:latin typeface="Calibri"/>
              </a:rPr>
              <a:t>A real-time emergency response training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" y="436168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" y="4937760"/>
            <a:ext cx="9509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Real-time event broadcasting via WebSocket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Scenario loading with timed, auto-escalating injects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Admin controls — start, pause, escalate, end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Trainee decision and action submission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Branching scenario logic with severity levels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Session key generation (6-character codes)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Live progress monitoring for instructors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Feedback and post-exercise results display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Colour-coded severity indicators (info/warning/critical)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Multi-user rooms with automatic reconnection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" y="7882128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49224" y="79918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Scope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8567928"/>
            <a:ext cx="9509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Full-stack JS web application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Admin dashboard + trainee interface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Real-time WebSocket communication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Eight complete emergency scenarios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Session-based access (admin/trainee)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Free-tier cloud deployment</a:t>
            </a:r>
          </a:p>
          <a:p>
            <a:pPr algn="l" indent="-182880" marL="256032"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Documentation + testing artefacts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" y="10689336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9224" y="10799064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Roles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9224" y="11420856"/>
            <a:ext cx="502920" cy="5029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TB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1872" y="11375136"/>
            <a:ext cx="8897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1121F"/>
                </a:solidFill>
                <a:latin typeface="Calibri"/>
              </a:rPr>
              <a:t>Backend &amp; Real-Time Lead</a:t>
            </a:r>
          </a:p>
          <a:p>
            <a:r>
              <a:rPr b="1" sz="2000">
                <a:solidFill>
                  <a:srgbClr val="1A1A1A"/>
                </a:solidFill>
                <a:latin typeface="Calibri"/>
              </a:rPr>
              <a:t>Tom Burchell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Socket.IO engine · scenario logic · server architecture · CI/CD · cloud deployment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9224" y="12353544"/>
            <a:ext cx="50292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LW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1872" y="12307824"/>
            <a:ext cx="8897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1121F"/>
                </a:solidFill>
                <a:latin typeface="Calibri"/>
              </a:rPr>
              <a:t>Frontend &amp; UI/UX Lead</a:t>
            </a:r>
          </a:p>
          <a:p>
            <a:r>
              <a:rPr b="1" sz="2000">
                <a:solidFill>
                  <a:srgbClr val="1A1A1A"/>
                </a:solidFill>
                <a:latin typeface="Calibri"/>
              </a:rPr>
              <a:t>Leon Wasiliew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React UI · layouts · real-time state updates · responsive design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9224" y="13286232"/>
            <a:ext cx="502920" cy="502920"/>
          </a:xfrm>
          <a:prstGeom prst="roundRect">
            <a:avLst/>
          </a:prstGeom>
          <a:solidFill>
            <a:srgbClr val="0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1872" y="13240512"/>
            <a:ext cx="8897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1121F"/>
                </a:solidFill>
                <a:latin typeface="Calibri"/>
              </a:rPr>
              <a:t>Script Master / QA</a:t>
            </a:r>
          </a:p>
          <a:p>
            <a:r>
              <a:rPr b="1" sz="2000">
                <a:solidFill>
                  <a:srgbClr val="1A1A1A"/>
                </a:solidFill>
                <a:latin typeface="Calibri"/>
              </a:rPr>
              <a:t>John Hay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Scenario writing · integration testing · accessibility review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9224" y="14218920"/>
            <a:ext cx="502920" cy="5029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KP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1872" y="14173200"/>
            <a:ext cx="8897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1121F"/>
                </a:solidFill>
                <a:latin typeface="Calibri"/>
              </a:rPr>
              <a:t>Project Manager</a:t>
            </a:r>
          </a:p>
          <a:p>
            <a:r>
              <a:rPr b="1" sz="2000">
                <a:solidFill>
                  <a:srgbClr val="1A1A1A"/>
                </a:solidFill>
                <a:latin typeface="Calibri"/>
              </a:rPr>
              <a:t>Kael Payette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Coordination · documentation · Git workflow · standards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56848" y="4361688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Description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56848" y="4937760"/>
            <a:ext cx="20482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1A1A1A"/>
                </a:solidFill>
                <a:latin typeface="Calibri"/>
              </a:rPr>
              <a:t>A full-stack, real-time simulation platform for practising emergency response scenarios. Built with Node.js, Express, Socket.IO, and React, SIRE enables instructors to run dynamic, escalating incident simulations while trainees respond in real time.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356848" y="6327648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1356848" y="6437376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Architecture (ERD)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94008" y="7150608"/>
            <a:ext cx="9852660" cy="594360"/>
          </a:xfrm>
          <a:prstGeom prst="rect">
            <a:avLst/>
          </a:prstGeom>
          <a:solidFill>
            <a:srgbClr val="DAEEFF"/>
          </a:solidFill>
          <a:ln w="19050">
            <a:solidFill>
              <a:srgbClr val="5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0A3C5C"/>
                </a:solidFill>
                <a:latin typeface="Calibri"/>
              </a:rPr>
              <a:t>Instructor Admin Dashboard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46668" y="7150608"/>
            <a:ext cx="502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555555"/>
                </a:solidFill>
                <a:latin typeface="Calibri"/>
              </a:rPr>
              <a:t>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849588" y="7150608"/>
            <a:ext cx="9852660" cy="594360"/>
          </a:xfrm>
          <a:prstGeom prst="rect">
            <a:avLst/>
          </a:prstGeom>
          <a:solidFill>
            <a:srgbClr val="DAEEFF"/>
          </a:solidFill>
          <a:ln w="19050">
            <a:solidFill>
              <a:srgbClr val="5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0A3C5C"/>
                </a:solidFill>
                <a:latin typeface="Calibri"/>
              </a:rPr>
              <a:t>Trainees React UI (×10+)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94008" y="7790688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↕ WebSocket / HTTP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94008" y="8083296"/>
            <a:ext cx="20208240" cy="594360"/>
          </a:xfrm>
          <a:prstGeom prst="rect">
            <a:avLst/>
          </a:prstGeom>
          <a:solidFill>
            <a:srgbClr val="DAFFEF"/>
          </a:solidFill>
          <a:ln w="19050">
            <a:solidFill>
              <a:srgbClr val="38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0A4028"/>
                </a:solidFill>
                <a:latin typeface="Calibri"/>
              </a:rPr>
              <a:t>⚡ Socket.IO Server  ·  Express REST API  ·  Node.js 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94008" y="8723376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94008" y="9015984"/>
            <a:ext cx="6699504" cy="594360"/>
          </a:xfrm>
          <a:prstGeom prst="rect">
            <a:avLst/>
          </a:prstGeom>
          <a:solidFill>
            <a:srgbClr val="FFE8E8"/>
          </a:solidFill>
          <a:ln w="19050">
            <a:solidFill>
              <a:srgbClr val="E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In-Memory
Session Store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48376" y="9015984"/>
            <a:ext cx="6699504" cy="594360"/>
          </a:xfrm>
          <a:prstGeom prst="rect">
            <a:avLst/>
          </a:prstGeom>
          <a:solidFill>
            <a:srgbClr val="FFF5D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5C3A00"/>
                </a:solidFill>
                <a:latin typeface="Calibri"/>
              </a:rPr>
              <a:t>Escalation
Engine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002744" y="9015984"/>
            <a:ext cx="6699504" cy="594360"/>
          </a:xfrm>
          <a:prstGeom prst="rect">
            <a:avLst/>
          </a:prstGeom>
          <a:solidFill>
            <a:srgbClr val="F2E8FF"/>
          </a:solidFill>
          <a:ln w="19050">
            <a:solidFill>
              <a:srgbClr val="A06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3A005C"/>
                </a:solidFill>
                <a:latin typeface="Calibri"/>
              </a:rPr>
              <a:t>Scenario
Registry (8)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94008" y="9701784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400">
                <a:solidFill>
                  <a:srgbClr val="555555"/>
                </a:solidFill>
                <a:latin typeface="Calibri"/>
              </a:rPr>
              <a:t>Rooms isolate sessions  ·  Events broadcast to all participants  ·  Automatic timeline progression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356848" y="10204704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1356848" y="10314432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Training Scenarios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356848" y="1089050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1448288" y="1094536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Active Threat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Lockdown, sweep, all-clear procedures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43848" y="1089050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21735288" y="1094536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Fire Emergency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Alarm, evacuation, fire dept. handover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356848" y="1162202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1448288" y="1167688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Flood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Water intrusion, system protection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643848" y="1162202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21735288" y="1167688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Cyber Attack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Ransomware, network isolation, IR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356848" y="1235354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1448288" y="1240840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Power Outage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UPS/generator failover, critical systems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643848" y="1235354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21735288" y="1240840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Severe Weather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Shelter-in-place, facility protection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356848" y="1308506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1448288" y="1313992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Medical Emergency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Cardiac event, first-aid, EMS coord.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643848" y="13085064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21735288" y="13139928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C1121F"/>
                </a:solidFill>
                <a:latin typeface="Calibri"/>
              </a:rPr>
              <a:t>Hazmat Spill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Containment, PPE, decontamination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356848" y="13926312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1356848" y="14036040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Application Mockups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356848" y="1461211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1356848" y="14612112"/>
            <a:ext cx="6766560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1402568" y="1475841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Home Page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S.I.R.E. landing · scenario overview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14848" y="1461211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8214848" y="14612112"/>
            <a:ext cx="676656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8260568" y="1475841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Login Page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Email / password · role select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072848" y="1461211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25072848" y="14612112"/>
            <a:ext cx="6766560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25118568" y="1475841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Admin Dashboard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Session key · inject controls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356848" y="1548079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356848" y="15480792"/>
            <a:ext cx="6766560" cy="109728"/>
          </a:xfrm>
          <a:prstGeom prst="rect">
            <a:avLst/>
          </a:prstGeom>
          <a:solidFill>
            <a:srgbClr val="0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1402568" y="1562709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Trainee Interface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Live events · action submission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8214848" y="1548079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18214848" y="15480792"/>
            <a:ext cx="676656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8260568" y="1562709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Create Session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Scenario select · start session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5072848" y="15480792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25072848" y="15480792"/>
            <a:ext cx="6766560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25118568" y="15627096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A1A1A"/>
                </a:solidFill>
                <a:latin typeface="Calibri"/>
              </a:rPr>
              <a:t>Join Session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6-char code · trainee onboarding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064704" y="4361688"/>
            <a:ext cx="95097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3201864" y="4526280"/>
            <a:ext cx="9235440" cy="10424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6400">
                <a:solidFill>
                  <a:srgbClr val="E63946"/>
                </a:solidFill>
                <a:latin typeface="Calibri"/>
              </a:rPr>
              <a:t>S.I.R.E.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Simulated Incident Response Environment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3064704" y="5843016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33064704" y="5952744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SWOT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064704" y="6528816"/>
            <a:ext cx="4718304" cy="1188720"/>
          </a:xfrm>
          <a:prstGeom prst="rect">
            <a:avLst/>
          </a:prstGeom>
          <a:solidFill>
            <a:srgbClr val="E8F8EF"/>
          </a:solidFill>
          <a:ln w="12700">
            <a:solidFill>
              <a:srgbClr val="A3D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3156144" y="6620256"/>
            <a:ext cx="4535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1A5C36"/>
                </a:solidFill>
                <a:latin typeface="Calibri"/>
              </a:rPr>
              <a:t>Strengths</a:t>
            </a:r>
          </a:p>
          <a:p>
            <a:r>
              <a:rPr sz="1600">
                <a:solidFill>
                  <a:srgbClr val="1A5C36"/>
                </a:solidFill>
                <a:latin typeface="Calibri"/>
              </a:rPr>
              <a:t>Real-time WebSocket; full-stack JS; modular scenarios; session isolation; no DB dependency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856160" y="6528816"/>
            <a:ext cx="4718304" cy="1188720"/>
          </a:xfrm>
          <a:prstGeom prst="rect">
            <a:avLst/>
          </a:prstGeom>
          <a:solidFill>
            <a:srgbClr val="FFF0E0"/>
          </a:solidFill>
          <a:ln w="12700">
            <a:solidFill>
              <a:srgbClr val="F4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37947600" y="6620256"/>
            <a:ext cx="4535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6B3800"/>
                </a:solidFill>
                <a:latin typeface="Calibri"/>
              </a:rPr>
              <a:t>Weaknesses</a:t>
            </a:r>
          </a:p>
          <a:p>
            <a:r>
              <a:rPr sz="1600">
                <a:solidFill>
                  <a:srgbClr val="6B3800"/>
                </a:solidFill>
                <a:latin typeface="Calibri"/>
              </a:rPr>
              <a:t>In-memory storage (no restart persistence); no persistent accounts; WAN latency risk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3064704" y="7790688"/>
            <a:ext cx="4718304" cy="1188720"/>
          </a:xfrm>
          <a:prstGeom prst="rect">
            <a:avLst/>
          </a:prstGeom>
          <a:solidFill>
            <a:srgbClr val="E8F0FF"/>
          </a:solidFill>
          <a:ln w="12700">
            <a:solidFill>
              <a:srgbClr val="A3B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3156144" y="7882128"/>
            <a:ext cx="4535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1A2E6B"/>
                </a:solidFill>
                <a:latin typeface="Calibri"/>
              </a:rPr>
              <a:t>Opportunities</a:t>
            </a:r>
          </a:p>
          <a:p>
            <a:r>
              <a:rPr sz="1600">
                <a:solidFill>
                  <a:srgbClr val="1A2E6B"/>
                </a:solidFill>
                <a:latin typeface="Calibri"/>
              </a:rPr>
              <a:t>Persistent session logs; mobile-responsive client; expanded scenario library; LMS integration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856160" y="7790688"/>
            <a:ext cx="4718304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F4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37947600" y="7882128"/>
            <a:ext cx="4535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6B1A1A"/>
                </a:solidFill>
                <a:latin typeface="Calibri"/>
              </a:rPr>
              <a:t>Threats</a:t>
            </a:r>
          </a:p>
          <a:p>
            <a:r>
              <a:rPr sz="1600">
                <a:solidFill>
                  <a:srgbClr val="6B1A1A"/>
                </a:solidFill>
                <a:latin typeface="Calibri"/>
              </a:rPr>
              <a:t>Free-tier cold-starts; browser WebSocket restrictions; server restart clears active sessions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064704" y="9162288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3064704" y="927201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Technology Stack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064704" y="984808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555555"/>
                </a:solidFill>
                <a:latin typeface="Calibri"/>
              </a:rPr>
              <a:t>FRONTEND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064704" y="10104120"/>
            <a:ext cx="914400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33064704" y="10104120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3C5C"/>
                </a:solidFill>
                <a:latin typeface="Calibri"/>
              </a:rPr>
              <a:t>React 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033968" y="10104120"/>
            <a:ext cx="1435608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34033968" y="10104120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3C5C"/>
                </a:solidFill>
                <a:latin typeface="Calibri"/>
              </a:rPr>
              <a:t>React Router 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5524440" y="10104120"/>
            <a:ext cx="740664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35524440" y="10104120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3C5C"/>
                </a:solidFill>
                <a:latin typeface="Calibri"/>
              </a:rPr>
              <a:t>Vite 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6319968" y="10104120"/>
            <a:ext cx="1783080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36319968" y="1010412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3C5C"/>
                </a:solidFill>
                <a:latin typeface="Calibri"/>
              </a:rPr>
              <a:t>Socket.IO Client 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064704" y="1048816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555555"/>
                </a:solidFill>
                <a:latin typeface="Calibri"/>
              </a:rPr>
              <a:t>BACKEND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3064704" y="10744200"/>
            <a:ext cx="1088136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33064704" y="10744200"/>
            <a:ext cx="10881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4028"/>
                </a:solidFill>
                <a:latin typeface="Calibri"/>
              </a:rPr>
              <a:t>Node.js 20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207704" y="10744200"/>
            <a:ext cx="1001268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4207704" y="10744200"/>
            <a:ext cx="100126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4028"/>
                </a:solidFill>
                <a:latin typeface="Calibri"/>
              </a:rPr>
              <a:t>Express 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5263836" y="10744200"/>
            <a:ext cx="1175004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35263836" y="10744200"/>
            <a:ext cx="117500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4028"/>
                </a:solidFill>
                <a:latin typeface="Calibri"/>
              </a:rPr>
              <a:t>Socket.IO 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493704" y="10744200"/>
            <a:ext cx="1088136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36493704" y="10744200"/>
            <a:ext cx="10881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4028"/>
                </a:solidFill>
                <a:latin typeface="Calibri"/>
              </a:rPr>
              <a:t>ES Modules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7636704" y="10744200"/>
            <a:ext cx="740664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37636704" y="10744200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0A4028"/>
                </a:solidFill>
                <a:latin typeface="Calibri"/>
              </a:rPr>
              <a:t>Nanoid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064704" y="1112824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555555"/>
                </a:solidFill>
                <a:latin typeface="Calibri"/>
              </a:rPr>
              <a:t>REAL-TIME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3064704" y="11384280"/>
            <a:ext cx="100126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33064704" y="11384280"/>
            <a:ext cx="100126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5C3A00"/>
                </a:solidFill>
                <a:latin typeface="Calibri"/>
              </a:rPr>
              <a:t>WebSocket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4120836" y="11384280"/>
            <a:ext cx="1783080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34120836" y="1138428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5C3A00"/>
                </a:solidFill>
                <a:latin typeface="Calibri"/>
              </a:rPr>
              <a:t>Long-Poll Fallback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5958780" y="11384280"/>
            <a:ext cx="143560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35958780" y="11384280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5C3A00"/>
                </a:solidFill>
                <a:latin typeface="Calibri"/>
              </a:rPr>
              <a:t>Room Isolation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7449252" y="11384280"/>
            <a:ext cx="143560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37449252" y="11384280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5C3A00"/>
                </a:solidFill>
                <a:latin typeface="Calibri"/>
              </a:rPr>
              <a:t>Auto-Reconnect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064704" y="1176832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555555"/>
                </a:solidFill>
                <a:latin typeface="Calibri"/>
              </a:rPr>
              <a:t>DEVOPS &amp; DEPLOYMENT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3064704" y="12024360"/>
            <a:ext cx="1522476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33064704" y="12024360"/>
            <a:ext cx="15224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Docker (Alpine)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42044" y="12024360"/>
            <a:ext cx="1696212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34642044" y="12024360"/>
            <a:ext cx="16962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GitHub Actions CI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6393120" y="12024360"/>
            <a:ext cx="827532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36393120" y="12024360"/>
            <a:ext cx="82753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Railway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7275516" y="12024360"/>
            <a:ext cx="740664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37275516" y="12024360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Render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8071044" y="12024360"/>
            <a:ext cx="740664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38071044" y="12024360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6B0000"/>
                </a:solidFill>
                <a:latin typeface="Calibri"/>
              </a:rPr>
              <a:t>Heroku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064704" y="12518136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33064704" y="12627864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E63946"/>
                </a:solidFill>
                <a:latin typeface="Calibri"/>
              </a:rPr>
              <a:t>Key Metrics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3064704" y="13203936"/>
            <a:ext cx="4709160" cy="96012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33110424" y="13313664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400">
                <a:solidFill>
                  <a:srgbClr val="E63946"/>
                </a:solidFill>
                <a:latin typeface="Calibri"/>
              </a:rPr>
              <a:t>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3110424" y="13798296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SCENARIOS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7865304" y="13203936"/>
            <a:ext cx="4709160" cy="960120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37911024" y="13313664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400">
                <a:solidFill>
                  <a:srgbClr val="4A90D9"/>
                </a:solidFill>
                <a:latin typeface="Calibri"/>
              </a:rPr>
              <a:t>10+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7911024" y="13798296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TRAINEES/SESSION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3064704" y="14255496"/>
            <a:ext cx="4709160" cy="960120"/>
          </a:xfrm>
          <a:prstGeom prst="rect">
            <a:avLst/>
          </a:prstGeom>
          <a:solidFill>
            <a:srgbClr val="E8F8E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33110424" y="14365224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400">
                <a:solidFill>
                  <a:srgbClr val="06B88A"/>
                </a:solidFill>
                <a:latin typeface="Calibri"/>
              </a:rPr>
              <a:t>&lt;300ms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110424" y="14849856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EVENT LATENCY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7865304" y="14255496"/>
            <a:ext cx="4709160" cy="960120"/>
          </a:xfrm>
          <a:prstGeom prst="rect">
            <a:avLst/>
          </a:prstGeom>
          <a:solidFill>
            <a:srgbClr val="FFFD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37911024" y="14365224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4400">
                <a:solidFill>
                  <a:srgbClr val="D4A017"/>
                </a:solidFill>
                <a:latin typeface="Calibri"/>
              </a:rPr>
              <a:t>12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7911024" y="14849856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WEEKS DEVELOPMENT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09728" y="29260800"/>
            <a:ext cx="42976800" cy="2011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57200" y="29489400"/>
            <a:ext cx="27432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Calibri"/>
              </a:rPr>
              <a:t>S.I.R.E. — Simulated Incident Response Environment</a:t>
            </a:r>
          </a:p>
          <a:p>
            <a:pPr algn="l"/>
            <a:r>
              <a:rPr sz="2000">
                <a:solidFill>
                  <a:srgbClr val="FFDDDD"/>
                </a:solidFill>
                <a:latin typeface="Calibri"/>
              </a:rPr>
              <a:t>NSCC · PROG 3300 Integrated Projects for Programming · Instructor: Alfred Parkes  |  Team: Tom Burchell · Leon Wasiliew · John Hay · Kael Payette</a:t>
            </a:r>
          </a:p>
          <a:p>
            <a:pPr algn="l"/>
            <a:r>
              <a:rPr i="1" sz="1600">
                <a:solidFill>
                  <a:srgbClr val="FFCCCC"/>
                </a:solidFill>
                <a:latin typeface="Calibri"/>
              </a:rPr>
              <a:t>Scenario images: Gemini  ·  github.com/Anaxagorius/S.I.R.E.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7705284" y="30015180"/>
            <a:ext cx="1280160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37705284" y="30015180"/>
            <a:ext cx="1280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Node.js 20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9076884" y="30015180"/>
            <a:ext cx="1069848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39076884" y="30015180"/>
            <a:ext cx="10698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0238172" y="30015180"/>
            <a:ext cx="1385316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TextBox 198"/>
          <p:cNvSpPr txBox="1"/>
          <p:nvPr/>
        </p:nvSpPr>
        <p:spPr>
          <a:xfrm>
            <a:off x="40238172" y="30015180"/>
            <a:ext cx="138531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Socket.IO 4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1714928" y="30015180"/>
            <a:ext cx="1005840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TextBox 200"/>
          <p:cNvSpPr txBox="1"/>
          <p:nvPr/>
        </p:nvSpPr>
        <p:spPr>
          <a:xfrm>
            <a:off x="41714928" y="30015180"/>
            <a:ext cx="1005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TaxCatchAll xmlns="1f90ba80-b527-4106-9f71-68cac0b6de9a" xsi:nil="true"/>
    <lcf76f155ced4ddcb4097134ff3c332f xmlns="79633a3a-381b-4db3-a1f5-d5e5f356499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3C3516F99F614B969C4D76671A5A08" ma:contentTypeVersion="16" ma:contentTypeDescription="Create a new document." ma:contentTypeScope="" ma:versionID="1934327814b4c3c87b1b744ce5a923c2">
  <xsd:schema xmlns:xsd="http://www.w3.org/2001/XMLSchema" xmlns:xs="http://www.w3.org/2001/XMLSchema" xmlns:p="http://schemas.microsoft.com/office/2006/metadata/properties" xmlns:ns2="79633a3a-381b-4db3-a1f5-d5e5f3564997" xmlns:ns3="1f90ba80-b527-4106-9f71-68cac0b6de9a" xmlns:ns4="d138a47d-dc5e-4040-b149-47ac2695de23" targetNamespace="http://schemas.microsoft.com/office/2006/metadata/properties" ma:root="true" ma:fieldsID="c459736a14a54023abc236c28eed1f25" ns2:_="" ns3:_="" ns4:_="">
    <xsd:import namespace="79633a3a-381b-4db3-a1f5-d5e5f3564997"/>
    <xsd:import namespace="1f90ba80-b527-4106-9f71-68cac0b6de9a"/>
    <xsd:import namespace="d138a47d-dc5e-4040-b149-47ac2695de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33a3a-381b-4db3-a1f5-d5e5f3564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db5c4b-1f5d-4e56-b7d1-1f11c4423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0ba80-b527-4106-9f71-68cac0b6de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2af03a3-7807-4087-841e-2a6e8020897a}" ma:internalName="TaxCatchAll" ma:showField="CatchAllData" ma:web="d138a47d-dc5e-4040-b149-47ac2695de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8a47d-dc5e-4040-b149-47ac2695de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A36945-6F17-4C84-BFF7-FE0370757AF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1f90ba80-b527-4106-9f71-68cac0b6de9a"/>
    <ds:schemaRef ds:uri="79633a3a-381b-4db3-a1f5-d5e5f356499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D7DD4D-914D-451F-AF1E-B46300863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43E876-7134-43CB-A145-34B63A4D8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633a3a-381b-4db3-a1f5-d5e5f3564997"/>
    <ds:schemaRef ds:uri="1f90ba80-b527-4106-9f71-68cac0b6de9a"/>
    <ds:schemaRef ds:uri="d138a47d-dc5e-4040-b149-47ac2695d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23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Jeremy</dc:creator>
  <cp:lastModifiedBy>Campbell,Karen</cp:lastModifiedBy>
  <cp:revision>55</cp:revision>
  <cp:lastPrinted>2017-03-31T17:02:50Z</cp:lastPrinted>
  <dcterms:created xsi:type="dcterms:W3CDTF">2009-04-02T15:37:03Z</dcterms:created>
  <dcterms:modified xsi:type="dcterms:W3CDTF">2026-02-20T18:00:43Z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0x010100FE3C3516F99F614B969C4D76671A5A08</vt:lpwstr>
  </property>
  <property fmtid="{D5CDD505-2E9C-101B-9397-08002B2CF9AE}" pid="3" name="MediaServiceImageTags">
    <vt:lpwstr/>
  </property>
</Properties>
</file>